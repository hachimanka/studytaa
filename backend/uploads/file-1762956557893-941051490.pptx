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584C7-4446-4E9E-89F3-0110C14E7B54}" v="2" dt="2025-10-30T14:48:00.448"/>
    <p1510:client id="{7C06F2ED-F290-C2BB-5141-81B71216757A}" v="2" dt="2025-10-29T23:11:57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Matthew E. Perocho" userId="S::raphaelmatthew.perocho@cit.edu::834b1ca8-b0c5-4101-a8cd-2c10b7cc6c9f" providerId="AD" clId="Web-{084584C7-4446-4E9E-89F3-0110C14E7B54}"/>
    <pc:docChg chg="modSld">
      <pc:chgData name="Raphael Matthew E. Perocho" userId="S::raphaelmatthew.perocho@cit.edu::834b1ca8-b0c5-4101-a8cd-2c10b7cc6c9f" providerId="AD" clId="Web-{084584C7-4446-4E9E-89F3-0110C14E7B54}" dt="2025-10-30T14:48:00.448" v="1" actId="1076"/>
      <pc:docMkLst>
        <pc:docMk/>
      </pc:docMkLst>
      <pc:sldChg chg="modSp">
        <pc:chgData name="Raphael Matthew E. Perocho" userId="S::raphaelmatthew.perocho@cit.edu::834b1ca8-b0c5-4101-a8cd-2c10b7cc6c9f" providerId="AD" clId="Web-{084584C7-4446-4E9E-89F3-0110C14E7B54}" dt="2025-10-30T14:48:00.448" v="1" actId="1076"/>
        <pc:sldMkLst>
          <pc:docMk/>
          <pc:sldMk cId="3264967695" sldId="262"/>
        </pc:sldMkLst>
        <pc:picChg chg="mod">
          <ac:chgData name="Raphael Matthew E. Perocho" userId="S::raphaelmatthew.perocho@cit.edu::834b1ca8-b0c5-4101-a8cd-2c10b7cc6c9f" providerId="AD" clId="Web-{084584C7-4446-4E9E-89F3-0110C14E7B54}" dt="2025-10-30T14:48:00.448" v="1" actId="1076"/>
          <ac:picMkLst>
            <pc:docMk/>
            <pc:sldMk cId="3264967695" sldId="262"/>
            <ac:picMk id="29" creationId="{9F67F5A1-580C-246D-A28E-DAB5EB10D9A0}"/>
          </ac:picMkLst>
        </pc:picChg>
      </pc:sldChg>
    </pc:docChg>
  </pc:docChgLst>
  <pc:docChgLst>
    <pc:chgData name="Leonard L. Forrosuelo" userId="S::leonard.forrosuelo@cit.edu::429452a6-7156-4517-97c0-090801656bd1" providerId="AD" clId="Web-{B805ABD0-C13F-7E04-9436-286780EC59B6}"/>
    <pc:docChg chg="modSld">
      <pc:chgData name="Leonard L. Forrosuelo" userId="S::leonard.forrosuelo@cit.edu::429452a6-7156-4517-97c0-090801656bd1" providerId="AD" clId="Web-{B805ABD0-C13F-7E04-9436-286780EC59B6}" dt="2025-10-15T16:48:12.771" v="4" actId="1076"/>
      <pc:docMkLst>
        <pc:docMk/>
      </pc:docMkLst>
      <pc:sldChg chg="modSp">
        <pc:chgData name="Leonard L. Forrosuelo" userId="S::leonard.forrosuelo@cit.edu::429452a6-7156-4517-97c0-090801656bd1" providerId="AD" clId="Web-{B805ABD0-C13F-7E04-9436-286780EC59B6}" dt="2025-10-15T16:48:12.771" v="4" actId="1076"/>
        <pc:sldMkLst>
          <pc:docMk/>
          <pc:sldMk cId="4052204027" sldId="261"/>
        </pc:sldMkLst>
        <pc:picChg chg="mod">
          <ac:chgData name="Leonard L. Forrosuelo" userId="S::leonard.forrosuelo@cit.edu::429452a6-7156-4517-97c0-090801656bd1" providerId="AD" clId="Web-{B805ABD0-C13F-7E04-9436-286780EC59B6}" dt="2025-10-15T16:48:12.771" v="4" actId="1076"/>
          <ac:picMkLst>
            <pc:docMk/>
            <pc:sldMk cId="4052204027" sldId="261"/>
            <ac:picMk id="28" creationId="{52461568-5250-886A-E4EB-9790F49D3A16}"/>
          </ac:picMkLst>
        </pc:picChg>
      </pc:sldChg>
    </pc:docChg>
  </pc:docChgLst>
  <pc:docChgLst>
    <pc:chgData name="James O. Gara" userId="S::james.gara@cit.edu::fa0f813c-a818-413e-a5d0-3b03deca937e" providerId="AD" clId="Web-{7C06F2ED-F290-C2BB-5141-81B71216757A}"/>
    <pc:docChg chg="addSld delSld">
      <pc:chgData name="James O. Gara" userId="S::james.gara@cit.edu::fa0f813c-a818-413e-a5d0-3b03deca937e" providerId="AD" clId="Web-{7C06F2ED-F290-C2BB-5141-81B71216757A}" dt="2025-10-29T23:11:57.677" v="1"/>
      <pc:docMkLst>
        <pc:docMk/>
      </pc:docMkLst>
      <pc:sldChg chg="add del">
        <pc:chgData name="James O. Gara" userId="S::james.gara@cit.edu::fa0f813c-a818-413e-a5d0-3b03deca937e" providerId="AD" clId="Web-{7C06F2ED-F290-C2BB-5141-81B71216757A}" dt="2025-10-29T23:11:57.677" v="1"/>
        <pc:sldMkLst>
          <pc:docMk/>
          <pc:sldMk cId="387107055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D881-B5F1-FA04-8D17-7DEC21827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4E13A-AC5E-39D8-6372-149B5AF5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4A75-979C-34F5-04F5-70127904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2F53D-6741-AD84-073A-6AEF630A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E8025-FB3C-5E32-9AC5-9E8F1B3E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3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5D2F-D176-9EA7-EE98-A6E68F0C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1EE9A-CD9F-4E12-B2BE-AF156178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8604C-2931-1ADD-5D23-92D94F50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92584-C065-E08E-EBED-AEE29471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A4404-E0BE-8989-A26E-973CFC56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6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A05C-AEB8-6D1C-E750-278DBF4A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AE490-9E9B-6102-42F0-6AD98BBFE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6C96-676F-637E-E97E-B87D95D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49C5F-972B-4E0A-ACE8-5D2EA6AC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FD7B3-9111-2A5E-AFC1-12D9CC72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3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7C9F-EE76-E11B-03AF-BB253D4B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C681-02C5-5485-CFB0-A6A318CDB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901B6-7504-A904-18CF-E4B978499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4026A-4E41-AC7C-A4D3-6392785D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5C628-E608-C70E-4ED5-22A553E6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F5ED-5366-1623-44B3-7062E843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2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1983-B49D-CAEE-0926-5692C531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E82DE-7C67-6AE0-B1CC-F35666043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F0828-25C0-454A-C23E-E2FEDCAD6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5D8E2-1B85-6C72-A5CC-23E3369F0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E30F6-8042-FCC4-973E-E31F9504C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D2677D-F5EC-F411-52B1-0517FCE4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4F661F-B7C0-023A-DCD1-E3A20289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9C935-E8AB-A982-F48B-A75426F4A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3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60F1-6B5F-2E97-CDDC-B83778C9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1428A-3CFA-0C88-9A28-67AB97B6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7429B-317D-FCFF-D611-EF9F432B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214A1-9CBD-E1B6-E0A9-51159469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6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164AC-8460-74A7-D39B-8D195866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BB882-CF3D-6B51-C95A-7C637892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A96E-F5D4-03E8-A8D9-51482860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8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4AA2-37E1-0571-B872-623AB77C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8A47-DCFA-FAD2-6670-2DB25AD82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E2041-62E9-9639-3365-4443BF699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AB97B-026F-D077-042E-12CD0806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F614B-616D-5C3E-9900-6DA95AA9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69D5F-69B4-22FC-993D-CB813078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C543-8803-AE76-964E-AB655CEE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8C4A7-34C3-81BB-B959-3395CAB1B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2736F-D703-A667-2E69-391C2B71B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45F0D-2D35-0058-20F1-F855BD9D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B6C42-60B1-20D6-E50F-DA808133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74B28-71B8-CBE9-FD30-1DA6CB6B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2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7ABC-3045-9624-D84E-27674A23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D5CAE-7EA6-8F0F-2799-02DAB0C7A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1B07D-6D27-1E76-7AEF-FBF91EBE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E452F-4591-2346-D402-2337257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2248-0674-B1E8-3FD4-0BF79A31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2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8E52C-E86D-6AB3-4043-2BF0BD15C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D48D2-4F6C-CF4D-D724-D54BD7C69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E64EB-B08D-1975-FFB6-12514942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107B1-B925-8827-68E3-6DEBD284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AE985-D135-2ADE-D561-012E5AE3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5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7DD98-D452-EBC1-DCC3-821FD453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33457-FDE7-8F17-DC20-0B3C9121A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8753-DA50-F325-22A9-D376F3703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29977-ACD1-4320-9C80-8539920FED0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063FC-2B4E-CDF6-7169-5FC958CFD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53E39-5D0C-B469-B302-E90B83007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C95B1-DDC1-4EAE-8310-837DB4872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958C-2ED1-01FB-F8E1-8726B5B5C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9835"/>
            <a:ext cx="9144000" cy="1419669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Perceptual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50C31-DDDF-8A23-9D9F-D55F938A4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27831"/>
            <a:ext cx="9144000" cy="1312037"/>
          </a:xfrm>
        </p:spPr>
        <p:txBody>
          <a:bodyPr/>
          <a:lstStyle/>
          <a:p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Like a pro</a:t>
            </a:r>
          </a:p>
        </p:txBody>
      </p:sp>
    </p:spTree>
    <p:extLst>
      <p:ext uri="{BB962C8B-B14F-4D97-AF65-F5344CB8AC3E}">
        <p14:creationId xmlns:p14="http://schemas.microsoft.com/office/powerpoint/2010/main" val="387552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E1E5-692A-B05E-5808-0F6F700F4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347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Perceptual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9556-42D2-AA00-0EDA-239EAA02E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 Perceptual Map (also called a Positioning Map) is a visual tool used in marketing and strategy to show how customers perceive brands or products compared to competitors.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It helps you answer questions like:</a:t>
            </a:r>
          </a:p>
          <a:p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“How do customers see our product in the market?”</a:t>
            </a:r>
          </a:p>
          <a:p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“Which competitors are close to us?”</a:t>
            </a:r>
          </a:p>
          <a:p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“Is there an open space (gap) in the market we can target?”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6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3E29-36A7-658C-0074-02D5D619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Purpose of a Perceptual Map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0EC47-6DC8-4181-DC77-BEDE0EEE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690688"/>
            <a:ext cx="10515600" cy="39808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It helps companies: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market position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See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they compare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with competitors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strengths, weaknesses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opportunities</a:t>
            </a:r>
            <a:b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Guide decisions on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branding, pricing, and features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2F47-7F02-7CF2-AC34-6D5E6B8F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5F6C8-B798-7DBD-78CF-0B2624ED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39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Choose your product and competitors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Pick your product (the one you’re analyzing) and 2–4 of its main competitors.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You’re comparing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four coffee shop brands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Coffee A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(Your Product or Service), Coffee B, Coffee C, Coffee D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7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3939-12A1-293B-BB91-DFDDF6B0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76D2-8CF3-D353-8A72-3C761751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616"/>
            <a:ext cx="10515600" cy="467734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Step 2: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Select two attributes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Choose two features that customers use to compare these products.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These are usually opposites or contrasting qualities (positive vs. negative).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X-axis → Price (from Low [negative] to High [positive])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Y-axis → Quality (from Low [negative] to High [positive])</a:t>
            </a:r>
          </a:p>
        </p:txBody>
      </p:sp>
    </p:spTree>
    <p:extLst>
      <p:ext uri="{BB962C8B-B14F-4D97-AF65-F5344CB8AC3E}">
        <p14:creationId xmlns:p14="http://schemas.microsoft.com/office/powerpoint/2010/main" val="185372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08D7-F1D3-BE25-5EBB-7AE68CEF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1610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2461568-5250-886A-E4EB-9790F49D3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387" y="2663472"/>
            <a:ext cx="4804707" cy="38576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BC1CB9-4BF8-C982-0E9C-FE057C8A6235}"/>
              </a:ext>
            </a:extLst>
          </p:cNvPr>
          <p:cNvSpPr txBox="1"/>
          <p:nvPr/>
        </p:nvSpPr>
        <p:spPr>
          <a:xfrm>
            <a:off x="914400" y="1495425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Step 3: Create your 4 quadrants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AF4A3D-9C0B-4C70-9769-8C521BC4874F}"/>
              </a:ext>
            </a:extLst>
          </p:cNvPr>
          <p:cNvSpPr txBox="1"/>
          <p:nvPr/>
        </p:nvSpPr>
        <p:spPr>
          <a:xfrm>
            <a:off x="5372098" y="2450583"/>
            <a:ext cx="1562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High Quality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D406D4-666A-8A79-3580-859689FE56F8}"/>
              </a:ext>
            </a:extLst>
          </p:cNvPr>
          <p:cNvSpPr txBox="1"/>
          <p:nvPr/>
        </p:nvSpPr>
        <p:spPr>
          <a:xfrm>
            <a:off x="8248650" y="422316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High Price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DD8250-D5DC-804B-F275-3D5E81AB596C}"/>
              </a:ext>
            </a:extLst>
          </p:cNvPr>
          <p:cNvSpPr txBox="1"/>
          <p:nvPr/>
        </p:nvSpPr>
        <p:spPr>
          <a:xfrm>
            <a:off x="2828925" y="422316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Low Price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540348-E0AD-38A8-7F99-6A5D58B51E7E}"/>
              </a:ext>
            </a:extLst>
          </p:cNvPr>
          <p:cNvSpPr txBox="1"/>
          <p:nvPr/>
        </p:nvSpPr>
        <p:spPr>
          <a:xfrm>
            <a:off x="5486400" y="623293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Low Quality</a:t>
            </a:r>
          </a:p>
        </p:txBody>
      </p:sp>
    </p:spTree>
    <p:extLst>
      <p:ext uri="{BB962C8B-B14F-4D97-AF65-F5344CB8AC3E}">
        <p14:creationId xmlns:p14="http://schemas.microsoft.com/office/powerpoint/2010/main" val="405220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5104-2540-7220-EBE3-FF70E18B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15F0-4D52-0641-93AE-1FDE013A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31D8-6501-45A2-3573-5951D006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616"/>
            <a:ext cx="10515600" cy="467734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Step 4: </a:t>
            </a:r>
            <a:r>
              <a:rPr lang="en-US"/>
              <a:t>Assign positive and negative scores</a:t>
            </a:r>
            <a:br>
              <a:rPr lang="en-US"/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4C0CBD-7434-09FD-1007-EAA34F55B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913834"/>
              </p:ext>
            </p:extLst>
          </p:nvPr>
        </p:nvGraphicFramePr>
        <p:xfrm>
          <a:off x="838200" y="3735907"/>
          <a:ext cx="10515600" cy="226481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319330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820349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6207896"/>
                    </a:ext>
                  </a:extLst>
                </a:gridCol>
              </a:tblGrid>
              <a:tr h="452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Score (x-axis)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Score (y-axis)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91797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48758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504655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018468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4475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43819DB-72C7-1419-9A80-A2D00355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208" y="2263285"/>
            <a:ext cx="10198608" cy="1296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use a simple scale from -10 to +10 for each attribute. Negative means “low,” and positive means “high.” T</a:t>
            </a:r>
            <a:r>
              <a:rPr lang="en-US"/>
              <a:t>he lower the rating, the more negative the score and the higher the rating, the more positive the score.</a:t>
            </a: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27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12B7-D82F-9FE1-466D-875E23DE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6B24-6E7D-49B9-37E9-F74CADA0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1610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67F5A1-580C-246D-A28E-DAB5EB10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27" y="2371725"/>
            <a:ext cx="8351995" cy="42100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2044766-5479-9483-43F0-9B2979B2A8C8}"/>
              </a:ext>
            </a:extLst>
          </p:cNvPr>
          <p:cNvSpPr txBox="1"/>
          <p:nvPr/>
        </p:nvSpPr>
        <p:spPr>
          <a:xfrm>
            <a:off x="914400" y="1419225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Step 5: Plot the brands</a:t>
            </a:r>
          </a:p>
        </p:txBody>
      </p:sp>
    </p:spTree>
    <p:extLst>
      <p:ext uri="{BB962C8B-B14F-4D97-AF65-F5344CB8AC3E}">
        <p14:creationId xmlns:p14="http://schemas.microsoft.com/office/powerpoint/2010/main" val="326496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2535-5176-ADB4-F628-6D8DFD10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60AD-7F34-05D3-6A29-065EF64F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1610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Create a Perceptual Map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D3A2C0-D52E-259B-4D69-67B858C07626}"/>
              </a:ext>
            </a:extLst>
          </p:cNvPr>
          <p:cNvSpPr txBox="1"/>
          <p:nvPr/>
        </p:nvSpPr>
        <p:spPr>
          <a:xfrm>
            <a:off x="914400" y="1419225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Step 6: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C29C7-E722-8239-1665-E2D670183EE5}"/>
              </a:ext>
            </a:extLst>
          </p:cNvPr>
          <p:cNvSpPr txBox="1"/>
          <p:nvPr/>
        </p:nvSpPr>
        <p:spPr>
          <a:xfrm>
            <a:off x="914400" y="2180832"/>
            <a:ext cx="10439400" cy="32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/>
              <a:t>The perceptual map shows that Coffee A holds a premium market position, while Coffee B competes as an affordable high-quality option. The bottom-right quadrant remains unattractive due to poor value perception, while the top-left quadrant may offer opportunities for balanced pricing and quality.</a:t>
            </a:r>
            <a:endParaRPr lang="en-U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62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DNumber xmlns="8f786ba9-c81f-4c8b-b164-73405bd28bd7" xsi:nil="true"/>
    <GroupNumber xmlns="8f786ba9-c81f-4c8b-b164-73405bd28bd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4A8B32C892A64E973212F16303B9EF" ma:contentTypeVersion="12" ma:contentTypeDescription="Create a new document." ma:contentTypeScope="" ma:versionID="6a79a6fcbc257bcce5fb018ac4b28e79">
  <xsd:schema xmlns:xsd="http://www.w3.org/2001/XMLSchema" xmlns:xs="http://www.w3.org/2001/XMLSchema" xmlns:p="http://schemas.microsoft.com/office/2006/metadata/properties" xmlns:ns2="8f786ba9-c81f-4c8b-b164-73405bd28bd7" targetNamespace="http://schemas.microsoft.com/office/2006/metadata/properties" ma:root="true" ma:fieldsID="6402e4c28c5f1d48d17edc4e3a76654c" ns2:_="">
    <xsd:import namespace="8f786ba9-c81f-4c8b-b164-73405bd28bd7"/>
    <xsd:element name="properties">
      <xsd:complexType>
        <xsd:sequence>
          <xsd:element name="documentManagement">
            <xsd:complexType>
              <xsd:all>
                <xsd:element ref="ns2:IDNumber" minOccurs="0"/>
                <xsd:element ref="ns2:GroupNumber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786ba9-c81f-4c8b-b164-73405bd28bd7" elementFormDefault="qualified">
    <xsd:import namespace="http://schemas.microsoft.com/office/2006/documentManagement/types"/>
    <xsd:import namespace="http://schemas.microsoft.com/office/infopath/2007/PartnerControls"/>
    <xsd:element name="IDNumber" ma:index="2" nillable="true" ma:displayName="ID Number" ma:format="Dropdown" ma:internalName="IDNumber">
      <xsd:simpleType>
        <xsd:restriction base="dms:Text">
          <xsd:maxLength value="255"/>
        </xsd:restriction>
      </xsd:simpleType>
    </xsd:element>
    <xsd:element name="GroupNumber" ma:index="3" nillable="true" ma:displayName="Group Number" ma:format="Dropdown" ma:internalName="GroupNumber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BE1564-A5A5-431D-8984-069812FEA5FB}">
  <ds:schemaRefs>
    <ds:schemaRef ds:uri="8f786ba9-c81f-4c8b-b164-73405bd28bd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5A4105-C6B0-4DB0-B058-8083429A804C}">
  <ds:schemaRefs>
    <ds:schemaRef ds:uri="8f786ba9-c81f-4c8b-b164-73405bd28b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F78AD74-7E91-431A-BF20-96A0C2E29B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Perceptual Map</vt:lpstr>
      <vt:lpstr>Perceptual Map</vt:lpstr>
      <vt:lpstr>Purpose of a Perceptual Map</vt:lpstr>
      <vt:lpstr>How to Create a Perceptual Map</vt:lpstr>
      <vt:lpstr>How to Create a Perceptual Map</vt:lpstr>
      <vt:lpstr>How to Create a Perceptual Map</vt:lpstr>
      <vt:lpstr>How to Create a Perceptual Map</vt:lpstr>
      <vt:lpstr>How to Create a Perceptual Map</vt:lpstr>
      <vt:lpstr>How to Create a Perceptual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Kirk Lile A. Ramirez</dc:creator>
  <cp:revision>1</cp:revision>
  <dcterms:created xsi:type="dcterms:W3CDTF">2025-10-07T00:06:40Z</dcterms:created>
  <dcterms:modified xsi:type="dcterms:W3CDTF">2025-10-30T14:48:46Z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0x010100984A8B32C892A64E973212F16303B9EF</vt:lpwstr>
  </property>
</Properties>
</file>